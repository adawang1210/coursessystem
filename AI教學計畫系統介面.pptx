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48" d="100"/>
          <a:sy n="48" d="100"/>
        </p:scale>
        <p:origin x="72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073C1-2FB9-A239-93B6-D008BDBDE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教學計畫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6B7FA4-1262-E17A-4C38-1274D8E4E6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預期系統架構</a:t>
            </a:r>
          </a:p>
        </p:txBody>
      </p:sp>
    </p:spTree>
    <p:extLst>
      <p:ext uri="{BB962C8B-B14F-4D97-AF65-F5344CB8AC3E}">
        <p14:creationId xmlns:p14="http://schemas.microsoft.com/office/powerpoint/2010/main" val="119295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6CD8-B19C-54DE-AE35-609B29F11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AA0D9-DAD8-E44F-E717-FBD28916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253675"/>
            <a:ext cx="8361229" cy="2098226"/>
          </a:xfrm>
        </p:spPr>
        <p:txBody>
          <a:bodyPr/>
          <a:lstStyle/>
          <a:p>
            <a:r>
              <a:rPr lang="zh-TW" altLang="en-US" dirty="0"/>
              <a:t>分層系統架構</a:t>
            </a:r>
            <a:br>
              <a:rPr lang="en-US" altLang="zh-TW" dirty="0"/>
            </a:br>
            <a:r>
              <a:rPr lang="zh-TW" altLang="en-US" dirty="0"/>
              <a:t>對應功能</a:t>
            </a:r>
          </a:p>
        </p:txBody>
      </p:sp>
    </p:spTree>
    <p:extLst>
      <p:ext uri="{BB962C8B-B14F-4D97-AF65-F5344CB8AC3E}">
        <p14:creationId xmlns:p14="http://schemas.microsoft.com/office/powerpoint/2010/main" val="117181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C07BEE-52E2-2696-B0B7-B217E84C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使用者介面層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9E616E-305B-5CF1-062B-198F188030CB}"/>
              </a:ext>
            </a:extLst>
          </p:cNvPr>
          <p:cNvSpPr/>
          <p:nvPr/>
        </p:nvSpPr>
        <p:spPr>
          <a:xfrm>
            <a:off x="2294021" y="2045368"/>
            <a:ext cx="7603960" cy="421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72B6C46-A136-AB4E-5266-C1AE376A9B5C}"/>
              </a:ext>
            </a:extLst>
          </p:cNvPr>
          <p:cNvSpPr/>
          <p:nvPr/>
        </p:nvSpPr>
        <p:spPr>
          <a:xfrm>
            <a:off x="2903621" y="3429000"/>
            <a:ext cx="2229853" cy="2538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學生端</a:t>
            </a:r>
            <a:r>
              <a:rPr lang="en-US" altLang="zh-TW" b="1" dirty="0"/>
              <a:t>(</a:t>
            </a:r>
            <a:r>
              <a:rPr lang="zh-TW" altLang="en-US" b="1" dirty="0"/>
              <a:t>可匿名</a:t>
            </a:r>
            <a:r>
              <a:rPr lang="en-US" altLang="zh-TW" b="1" dirty="0"/>
              <a:t>)</a:t>
            </a:r>
          </a:p>
          <a:p>
            <a:pPr algn="ctr"/>
            <a:r>
              <a:rPr lang="en-US" altLang="zh-TW" b="1" dirty="0"/>
              <a:t>Line Official Account Bot</a:t>
            </a:r>
            <a:r>
              <a:rPr lang="zh-TW" altLang="en-US" b="1" dirty="0"/>
              <a:t>：</a:t>
            </a:r>
            <a:endParaRPr lang="en-US" altLang="zh-TW" b="1" dirty="0"/>
          </a:p>
          <a:p>
            <a:pPr algn="ctr"/>
            <a:r>
              <a:rPr lang="en-US" altLang="zh-TW" dirty="0"/>
              <a:t>1.</a:t>
            </a:r>
            <a:r>
              <a:rPr lang="zh-TW" altLang="en-US" dirty="0"/>
              <a:t>單向提問</a:t>
            </a:r>
            <a:r>
              <a:rPr lang="en-US" altLang="zh-TW" dirty="0"/>
              <a:t>/</a:t>
            </a:r>
            <a:r>
              <a:rPr lang="zh-TW" altLang="en-US" dirty="0"/>
              <a:t>發言</a:t>
            </a:r>
            <a:endParaRPr lang="en-US" altLang="zh-TW" dirty="0"/>
          </a:p>
          <a:p>
            <a:pPr algn="ctr"/>
            <a:r>
              <a:rPr lang="en-US" altLang="zh-TW" dirty="0"/>
              <a:t>2.</a:t>
            </a:r>
            <a:r>
              <a:rPr lang="zh-TW" altLang="en-US" dirty="0"/>
              <a:t>綁定每次課程</a:t>
            </a:r>
            <a:endParaRPr lang="en-US" altLang="zh-TW" dirty="0"/>
          </a:p>
          <a:p>
            <a:pPr algn="ctr"/>
            <a:r>
              <a:rPr lang="en-US" altLang="zh-TW" dirty="0"/>
              <a:t>3.</a:t>
            </a:r>
            <a:r>
              <a:rPr lang="zh-TW" altLang="en-US" dirty="0"/>
              <a:t>公告查看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69D764-0F28-4999-3794-9765065F5AA3}"/>
              </a:ext>
            </a:extLst>
          </p:cNvPr>
          <p:cNvSpPr/>
          <p:nvPr/>
        </p:nvSpPr>
        <p:spPr>
          <a:xfrm>
            <a:off x="7058526" y="3416969"/>
            <a:ext cx="2229853" cy="2538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/>
              <a:t>教師</a:t>
            </a:r>
            <a:r>
              <a:rPr lang="en-US" altLang="zh-TW" b="1" dirty="0"/>
              <a:t>/</a:t>
            </a:r>
            <a:r>
              <a:rPr lang="zh-TW" altLang="en-US" b="1" dirty="0"/>
              <a:t>助教端</a:t>
            </a:r>
            <a:endParaRPr lang="en-US" altLang="zh-TW" b="1" dirty="0"/>
          </a:p>
          <a:p>
            <a:pPr algn="ctr"/>
            <a:r>
              <a:rPr lang="en-US" altLang="zh-TW" b="1" dirty="0"/>
              <a:t>Web</a:t>
            </a:r>
            <a:r>
              <a:rPr lang="zh-TW" altLang="en-US" b="1" dirty="0"/>
              <a:t>後台：</a:t>
            </a:r>
            <a:endParaRPr lang="en-US" altLang="zh-TW" b="1" dirty="0"/>
          </a:p>
          <a:p>
            <a:pPr algn="ctr"/>
            <a:r>
              <a:rPr lang="en-US" altLang="zh-TW" dirty="0"/>
              <a:t>1.</a:t>
            </a:r>
            <a:r>
              <a:rPr lang="zh-TW" altLang="en-US" dirty="0"/>
              <a:t>問題審核</a:t>
            </a:r>
            <a:r>
              <a:rPr lang="en-US" altLang="zh-TW" dirty="0"/>
              <a:t>/</a:t>
            </a:r>
            <a:r>
              <a:rPr lang="zh-TW" altLang="en-US" dirty="0"/>
              <a:t>合併</a:t>
            </a:r>
            <a:endParaRPr lang="en-US" altLang="zh-TW" dirty="0"/>
          </a:p>
          <a:p>
            <a:pPr algn="ctr"/>
            <a:r>
              <a:rPr lang="en-US" altLang="zh-TW" dirty="0"/>
              <a:t>2.</a:t>
            </a:r>
            <a:r>
              <a:rPr lang="zh-TW" altLang="en-US" dirty="0"/>
              <a:t>發布</a:t>
            </a:r>
            <a:r>
              <a:rPr lang="en-US" altLang="zh-TW" dirty="0"/>
              <a:t>Q&amp;A</a:t>
            </a:r>
          </a:p>
          <a:p>
            <a:pPr algn="ctr"/>
            <a:r>
              <a:rPr lang="en-US" altLang="zh-TW" dirty="0"/>
              <a:t>3.</a:t>
            </a:r>
            <a:r>
              <a:rPr lang="zh-TW" altLang="en-US" dirty="0"/>
              <a:t>報表呈現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35B8DEAD-C816-444C-AED6-FE6E6B0E7A9B}"/>
              </a:ext>
            </a:extLst>
          </p:cNvPr>
          <p:cNvSpPr/>
          <p:nvPr/>
        </p:nvSpPr>
        <p:spPr>
          <a:xfrm>
            <a:off x="5727032" y="4443663"/>
            <a:ext cx="898357" cy="433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C04167-EADC-2076-DFCD-B6F6554402E7}"/>
              </a:ext>
            </a:extLst>
          </p:cNvPr>
          <p:cNvSpPr/>
          <p:nvPr/>
        </p:nvSpPr>
        <p:spPr>
          <a:xfrm>
            <a:off x="2277979" y="2037347"/>
            <a:ext cx="7636042" cy="9464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使用者介面層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C5EF243-A095-EC26-12DB-BE58D3F4BEE3}"/>
              </a:ext>
            </a:extLst>
          </p:cNvPr>
          <p:cNvCxnSpPr>
            <a:cxnSpLocks/>
          </p:cNvCxnSpPr>
          <p:nvPr/>
        </p:nvCxnSpPr>
        <p:spPr>
          <a:xfrm flipH="1">
            <a:off x="2277979" y="4876800"/>
            <a:ext cx="80210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標題 1">
            <a:extLst>
              <a:ext uri="{FF2B5EF4-FFF2-40B4-BE49-F238E27FC236}">
                <a16:creationId xmlns:a16="http://schemas.microsoft.com/office/drawing/2014/main" id="{EC9C0F3B-C834-E15D-ED03-CBC024D02FA3}"/>
              </a:ext>
            </a:extLst>
          </p:cNvPr>
          <p:cNvSpPr txBox="1">
            <a:spLocks/>
          </p:cNvSpPr>
          <p:nvPr/>
        </p:nvSpPr>
        <p:spPr>
          <a:xfrm>
            <a:off x="786063" y="4698331"/>
            <a:ext cx="1820779" cy="399047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FF0000"/>
                </a:solidFill>
              </a:rPr>
              <a:t>To</a:t>
            </a:r>
            <a:r>
              <a:rPr lang="zh-TW" altLang="en-US" sz="2000" dirty="0">
                <a:solidFill>
                  <a:srgbClr val="FF0000"/>
                </a:solidFill>
              </a:rPr>
              <a:t>服務應用</a:t>
            </a:r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id="{233CED3F-9CA0-86D3-7AB6-B377AD079D2E}"/>
              </a:ext>
            </a:extLst>
          </p:cNvPr>
          <p:cNvSpPr txBox="1">
            <a:spLocks/>
          </p:cNvSpPr>
          <p:nvPr/>
        </p:nvSpPr>
        <p:spPr>
          <a:xfrm>
            <a:off x="786063" y="5478378"/>
            <a:ext cx="1820779" cy="399047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002060"/>
                </a:solidFill>
              </a:rPr>
              <a:t>From</a:t>
            </a:r>
            <a:r>
              <a:rPr lang="zh-TW" altLang="en-US" sz="2000" dirty="0">
                <a:solidFill>
                  <a:srgbClr val="002060"/>
                </a:solidFill>
              </a:rPr>
              <a:t>服務應用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9E9957F8-731D-EB23-1001-09CF8A1A0933}"/>
              </a:ext>
            </a:extLst>
          </p:cNvPr>
          <p:cNvCxnSpPr>
            <a:cxnSpLocks/>
          </p:cNvCxnSpPr>
          <p:nvPr/>
        </p:nvCxnSpPr>
        <p:spPr>
          <a:xfrm flipH="1">
            <a:off x="2442410" y="5357563"/>
            <a:ext cx="974558" cy="220577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BD7FD922-4AEF-350D-4C40-BA288C331CFA}"/>
              </a:ext>
            </a:extLst>
          </p:cNvPr>
          <p:cNvSpPr txBox="1">
            <a:spLocks/>
          </p:cNvSpPr>
          <p:nvPr/>
        </p:nvSpPr>
        <p:spPr>
          <a:xfrm>
            <a:off x="10002254" y="4498807"/>
            <a:ext cx="1820779" cy="399047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002060"/>
                </a:solidFill>
              </a:rPr>
              <a:t>From</a:t>
            </a:r>
            <a:r>
              <a:rPr lang="zh-TW" altLang="en-US" sz="2000" dirty="0">
                <a:solidFill>
                  <a:srgbClr val="002060"/>
                </a:solidFill>
              </a:rPr>
              <a:t>服務應用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E8690CA-95A4-F75D-FF4C-D52135B16EB8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9031705" y="4660231"/>
            <a:ext cx="970549" cy="3810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E899679-C9C1-CC7B-3DBD-E0AF9C1B5C85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8839200" y="4698331"/>
            <a:ext cx="1163054" cy="60960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84419114-8659-C4A3-BD5D-7B388E3F18C7}"/>
              </a:ext>
            </a:extLst>
          </p:cNvPr>
          <p:cNvCxnSpPr>
            <a:cxnSpLocks/>
          </p:cNvCxnSpPr>
          <p:nvPr/>
        </p:nvCxnSpPr>
        <p:spPr>
          <a:xfrm>
            <a:off x="8775034" y="5004637"/>
            <a:ext cx="1243262" cy="5058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標題 1">
            <a:extLst>
              <a:ext uri="{FF2B5EF4-FFF2-40B4-BE49-F238E27FC236}">
                <a16:creationId xmlns:a16="http://schemas.microsoft.com/office/drawing/2014/main" id="{7F3D9B9E-3880-28B3-10F8-86FAC2E87A6C}"/>
              </a:ext>
            </a:extLst>
          </p:cNvPr>
          <p:cNvSpPr txBox="1">
            <a:spLocks/>
          </p:cNvSpPr>
          <p:nvPr/>
        </p:nvSpPr>
        <p:spPr>
          <a:xfrm>
            <a:off x="10094497" y="5378616"/>
            <a:ext cx="1820779" cy="399047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FF0000"/>
                </a:solidFill>
              </a:rPr>
              <a:t>To</a:t>
            </a:r>
            <a:r>
              <a:rPr lang="zh-TW" altLang="en-US" sz="2000" dirty="0">
                <a:solidFill>
                  <a:srgbClr val="FF0000"/>
                </a:solidFill>
              </a:rPr>
              <a:t>服務應用</a:t>
            </a: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AB0DB71-BA4F-A5E2-0771-2E7643ADA604}"/>
              </a:ext>
            </a:extLst>
          </p:cNvPr>
          <p:cNvCxnSpPr>
            <a:cxnSpLocks/>
          </p:cNvCxnSpPr>
          <p:nvPr/>
        </p:nvCxnSpPr>
        <p:spPr>
          <a:xfrm flipH="1">
            <a:off x="2442410" y="5097378"/>
            <a:ext cx="637674" cy="48076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24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D4C9-ED2E-79B5-FE71-8CCE2F8A8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49D36C-6E5F-AA5D-942E-ED738B27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服務與應用層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20CEF3-AE1F-E5EC-BB9E-3E4BCEC1A27D}"/>
              </a:ext>
            </a:extLst>
          </p:cNvPr>
          <p:cNvSpPr/>
          <p:nvPr/>
        </p:nvSpPr>
        <p:spPr>
          <a:xfrm>
            <a:off x="2294021" y="2045368"/>
            <a:ext cx="7603960" cy="421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FFCF154-8D50-B65C-9A92-B61B43B4C311}"/>
              </a:ext>
            </a:extLst>
          </p:cNvPr>
          <p:cNvSpPr/>
          <p:nvPr/>
        </p:nvSpPr>
        <p:spPr>
          <a:xfrm>
            <a:off x="2903621" y="3429000"/>
            <a:ext cx="6448926" cy="2538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1.</a:t>
            </a:r>
            <a:r>
              <a:rPr lang="zh-TW" altLang="en-US" b="1" dirty="0"/>
              <a:t> 提問接收</a:t>
            </a:r>
            <a:r>
              <a:rPr lang="en-US" altLang="zh-TW" b="1" dirty="0"/>
              <a:t>/</a:t>
            </a:r>
            <a:r>
              <a:rPr lang="zh-TW" altLang="en-US" b="1" dirty="0"/>
              <a:t>同意</a:t>
            </a:r>
            <a:r>
              <a:rPr lang="en-US" altLang="zh-TW" b="1" dirty="0"/>
              <a:t>/</a:t>
            </a:r>
            <a:r>
              <a:rPr lang="zh-TW" altLang="en-US" b="1" dirty="0"/>
              <a:t>刪除</a:t>
            </a:r>
            <a:r>
              <a:rPr lang="en-US" altLang="zh-TW" b="1" dirty="0"/>
              <a:t>/</a:t>
            </a:r>
            <a:r>
              <a:rPr lang="zh-TW" altLang="en-US" b="1" dirty="0"/>
              <a:t>撤回</a:t>
            </a:r>
            <a:endParaRPr lang="en-US" altLang="zh-TW" b="1" dirty="0"/>
          </a:p>
          <a:p>
            <a:pPr algn="ctr"/>
            <a:r>
              <a:rPr lang="en-US" altLang="zh-TW" b="1" dirty="0"/>
              <a:t>2.</a:t>
            </a:r>
            <a:r>
              <a:rPr lang="zh-TW" altLang="en-US" b="1" dirty="0"/>
              <a:t> 課程</a:t>
            </a:r>
            <a:r>
              <a:rPr lang="en-US" altLang="zh-TW" b="1" dirty="0"/>
              <a:t>/</a:t>
            </a:r>
            <a:r>
              <a:rPr lang="zh-TW" altLang="en-US" b="1" dirty="0"/>
              <a:t>班級</a:t>
            </a:r>
            <a:r>
              <a:rPr lang="en-US" altLang="zh-TW" b="1" dirty="0"/>
              <a:t>/</a:t>
            </a:r>
            <a:r>
              <a:rPr lang="zh-TW" altLang="en-US" b="1" dirty="0"/>
              <a:t>節次</a:t>
            </a:r>
            <a:r>
              <a:rPr lang="en-US" altLang="zh-TW" b="1" dirty="0"/>
              <a:t>/</a:t>
            </a:r>
            <a:r>
              <a:rPr lang="zh-TW" altLang="en-US" b="1" dirty="0"/>
              <a:t>時段同步</a:t>
            </a:r>
            <a:endParaRPr lang="en-US" altLang="zh-TW" b="1" dirty="0"/>
          </a:p>
          <a:p>
            <a:pPr algn="ctr"/>
            <a:r>
              <a:rPr lang="en-US" altLang="zh-TW" b="1" dirty="0"/>
              <a:t>3.</a:t>
            </a:r>
            <a:r>
              <a:rPr lang="zh-TW" altLang="en-US" b="1" dirty="0"/>
              <a:t> 實驗組</a:t>
            </a:r>
            <a:r>
              <a:rPr lang="en-US" altLang="zh-TW" b="1" dirty="0"/>
              <a:t>/</a:t>
            </a:r>
            <a:r>
              <a:rPr lang="zh-TW" altLang="en-US" b="1" dirty="0"/>
              <a:t>對照組切分與鎖定</a:t>
            </a:r>
            <a:endParaRPr lang="en-US" altLang="zh-TW" b="1" dirty="0"/>
          </a:p>
          <a:p>
            <a:pPr algn="ctr"/>
            <a:r>
              <a:rPr lang="en-US" altLang="zh-TW" b="1" dirty="0"/>
              <a:t>4.</a:t>
            </a:r>
            <a:r>
              <a:rPr lang="zh-TW" altLang="en-US" b="1" dirty="0"/>
              <a:t> 聚類結果審核</a:t>
            </a:r>
            <a:r>
              <a:rPr lang="en-US" altLang="zh-TW" b="1" dirty="0"/>
              <a:t>/</a:t>
            </a:r>
            <a:r>
              <a:rPr lang="zh-TW" altLang="en-US" b="1" dirty="0"/>
              <a:t>合併</a:t>
            </a:r>
            <a:r>
              <a:rPr lang="en-US" altLang="zh-TW" b="1" dirty="0"/>
              <a:t>/</a:t>
            </a:r>
            <a:r>
              <a:rPr lang="zh-TW" altLang="en-US" b="1" dirty="0"/>
              <a:t>草稿產生</a:t>
            </a:r>
            <a:endParaRPr lang="en-US" altLang="zh-TW" b="1" dirty="0"/>
          </a:p>
          <a:p>
            <a:pPr algn="ctr"/>
            <a:r>
              <a:rPr lang="en-US" altLang="zh-TW" b="1" dirty="0"/>
              <a:t>5.</a:t>
            </a:r>
            <a:r>
              <a:rPr lang="zh-TW" altLang="en-US" b="1" dirty="0"/>
              <a:t> 統計資料匯出</a:t>
            </a:r>
            <a:r>
              <a:rPr lang="en-US" altLang="zh-TW" b="1" dirty="0"/>
              <a:t>(CSV</a:t>
            </a:r>
            <a:r>
              <a:rPr lang="zh-TW" altLang="en-US" b="1" dirty="0"/>
              <a:t>檔案</a:t>
            </a:r>
            <a:r>
              <a:rPr lang="en-US" altLang="zh-TW" b="1" dirty="0"/>
              <a:t>)</a:t>
            </a:r>
          </a:p>
          <a:p>
            <a:pPr algn="ctr"/>
            <a:r>
              <a:rPr lang="en-US" altLang="zh-TW" b="1" dirty="0"/>
              <a:t>6.</a:t>
            </a:r>
            <a:r>
              <a:rPr lang="zh-TW" altLang="en-US" b="1" dirty="0"/>
              <a:t> </a:t>
            </a:r>
            <a:r>
              <a:rPr lang="en-US" altLang="zh-TW" b="1" dirty="0"/>
              <a:t>Q&amp;A</a:t>
            </a:r>
            <a:r>
              <a:rPr lang="zh-TW" altLang="en-US" b="1" dirty="0"/>
              <a:t> 版面控制</a:t>
            </a:r>
            <a:r>
              <a:rPr lang="en-US" altLang="zh-TW" b="1" dirty="0"/>
              <a:t>/</a:t>
            </a:r>
            <a:r>
              <a:rPr lang="zh-TW" altLang="en-US" b="1" dirty="0"/>
              <a:t>公告</a:t>
            </a:r>
            <a:r>
              <a:rPr lang="en-US" altLang="zh-TW" b="1" dirty="0"/>
              <a:t>/</a:t>
            </a:r>
            <a:r>
              <a:rPr lang="zh-TW" altLang="en-US" b="1" dirty="0"/>
              <a:t>快取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738A64-6619-BAA5-93A2-EBE6A5367566}"/>
              </a:ext>
            </a:extLst>
          </p:cNvPr>
          <p:cNvSpPr/>
          <p:nvPr/>
        </p:nvSpPr>
        <p:spPr>
          <a:xfrm>
            <a:off x="2277979" y="2037347"/>
            <a:ext cx="7636042" cy="9464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服務與應用層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83946DF3-F42E-0807-2C15-464920F1015A}"/>
              </a:ext>
            </a:extLst>
          </p:cNvPr>
          <p:cNvSpPr txBox="1">
            <a:spLocks/>
          </p:cNvSpPr>
          <p:nvPr/>
        </p:nvSpPr>
        <p:spPr>
          <a:xfrm>
            <a:off x="778042" y="4512845"/>
            <a:ext cx="1259305" cy="363956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FF0000"/>
                </a:solidFill>
              </a:rPr>
              <a:t>To</a:t>
            </a:r>
            <a:r>
              <a:rPr lang="zh-TW" altLang="en-US" sz="2000" dirty="0">
                <a:solidFill>
                  <a:srgbClr val="FF0000"/>
                </a:solidFill>
              </a:rPr>
              <a:t>資料層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DD84058-C523-2A94-6858-D97C393A31D7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 flipV="1">
            <a:off x="2037347" y="4694823"/>
            <a:ext cx="866274" cy="35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標題 1">
            <a:extLst>
              <a:ext uri="{FF2B5EF4-FFF2-40B4-BE49-F238E27FC236}">
                <a16:creationId xmlns:a16="http://schemas.microsoft.com/office/drawing/2014/main" id="{F0D6841F-E337-14B4-C620-E1486D55DB47}"/>
              </a:ext>
            </a:extLst>
          </p:cNvPr>
          <p:cNvSpPr txBox="1">
            <a:spLocks/>
          </p:cNvSpPr>
          <p:nvPr/>
        </p:nvSpPr>
        <p:spPr>
          <a:xfrm>
            <a:off x="9472865" y="4022558"/>
            <a:ext cx="2398293" cy="490287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002060"/>
                </a:solidFill>
              </a:rPr>
              <a:t>From</a:t>
            </a:r>
            <a:r>
              <a:rPr lang="zh-TW" altLang="en-US" sz="2000" dirty="0">
                <a:solidFill>
                  <a:srgbClr val="002060"/>
                </a:solidFill>
              </a:rPr>
              <a:t>使用者介面層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A4BF188-BDC2-C00C-7F45-8114FACB8AB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668126" y="4022558"/>
            <a:ext cx="1804739" cy="24514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14BC71D-79BA-3B2A-2B1A-13AAB5F46EFF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668126" y="4267702"/>
            <a:ext cx="1804739" cy="3509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6E599C69-0858-02CC-54F0-A416AD666164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668126" y="4267702"/>
            <a:ext cx="1804739" cy="28023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標題 1">
            <a:extLst>
              <a:ext uri="{FF2B5EF4-FFF2-40B4-BE49-F238E27FC236}">
                <a16:creationId xmlns:a16="http://schemas.microsoft.com/office/drawing/2014/main" id="{42344622-33C7-AD56-AA72-2A7817E4711C}"/>
              </a:ext>
            </a:extLst>
          </p:cNvPr>
          <p:cNvSpPr txBox="1">
            <a:spLocks/>
          </p:cNvSpPr>
          <p:nvPr/>
        </p:nvSpPr>
        <p:spPr>
          <a:xfrm>
            <a:off x="9472865" y="5061284"/>
            <a:ext cx="1820779" cy="399047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00B050"/>
                </a:solidFill>
              </a:rPr>
              <a:t>From</a:t>
            </a:r>
            <a:r>
              <a:rPr lang="zh-TW" altLang="en-US" sz="2000" dirty="0">
                <a:solidFill>
                  <a:srgbClr val="00B050"/>
                </a:solidFill>
              </a:rPr>
              <a:t> </a:t>
            </a:r>
            <a:r>
              <a:rPr lang="en-US" altLang="zh-TW" sz="2000" dirty="0">
                <a:solidFill>
                  <a:srgbClr val="00B050"/>
                </a:solidFill>
              </a:rPr>
              <a:t>AI/NLP</a:t>
            </a:r>
            <a:r>
              <a:rPr lang="zh-TW" altLang="en-US" sz="2000" dirty="0">
                <a:solidFill>
                  <a:srgbClr val="00B050"/>
                </a:solidFill>
              </a:rPr>
              <a:t>層</a:t>
            </a: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E0C2D27-03E5-858D-02B6-B18F958B53F7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539789" y="4267702"/>
            <a:ext cx="1933076" cy="1192629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標題 1">
            <a:extLst>
              <a:ext uri="{FF2B5EF4-FFF2-40B4-BE49-F238E27FC236}">
                <a16:creationId xmlns:a16="http://schemas.microsoft.com/office/drawing/2014/main" id="{DEC79F5A-A729-1835-535C-2CC3669EE316}"/>
              </a:ext>
            </a:extLst>
          </p:cNvPr>
          <p:cNvSpPr txBox="1">
            <a:spLocks/>
          </p:cNvSpPr>
          <p:nvPr/>
        </p:nvSpPr>
        <p:spPr>
          <a:xfrm>
            <a:off x="9472865" y="5611604"/>
            <a:ext cx="2398293" cy="490287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chemeClr val="bg2">
                    <a:lumMod val="10000"/>
                  </a:schemeClr>
                </a:solidFill>
              </a:rPr>
              <a:t>From</a:t>
            </a:r>
            <a:r>
              <a:rPr lang="zh-TW" altLang="en-US" sz="2000" dirty="0">
                <a:solidFill>
                  <a:schemeClr val="bg2">
                    <a:lumMod val="10000"/>
                  </a:schemeClr>
                </a:solidFill>
              </a:rPr>
              <a:t>分析與研究層</a:t>
            </a: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8D0D45CC-090D-3DBD-40BC-0228D429E46A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7668126" y="4816141"/>
            <a:ext cx="1804739" cy="44466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50B715CC-96D2-448B-C044-D2A5F4879AD3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7652087" y="4882440"/>
            <a:ext cx="1820778" cy="974308"/>
          </a:xfrm>
          <a:prstGeom prst="straightConnector1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91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19846-904E-334C-52B2-E6224039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14977-CB5C-659C-C31D-77C6C0D7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資料倉儲層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3A47CD-EED1-DAA6-5C5D-7F6AA6F7A080}"/>
              </a:ext>
            </a:extLst>
          </p:cNvPr>
          <p:cNvSpPr/>
          <p:nvPr/>
        </p:nvSpPr>
        <p:spPr>
          <a:xfrm>
            <a:off x="2294021" y="2045368"/>
            <a:ext cx="7603960" cy="421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571BE81-29E2-B800-786E-3C0A4F1BCC85}"/>
              </a:ext>
            </a:extLst>
          </p:cNvPr>
          <p:cNvSpPr/>
          <p:nvPr/>
        </p:nvSpPr>
        <p:spPr>
          <a:xfrm>
            <a:off x="2903621" y="3429000"/>
            <a:ext cx="6448926" cy="2538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zh-TW" altLang="en-US" dirty="0"/>
              <a:t>存放即時操作資料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存放發布與接收到的檔案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存放用於分析的整理過資料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存放分析後的資料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資料去識別化</a:t>
            </a:r>
            <a:endParaRPr lang="en-US" altLang="zh-TW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D65374-62E6-D44F-36A6-D905B3E7BC01}"/>
              </a:ext>
            </a:extLst>
          </p:cNvPr>
          <p:cNvSpPr/>
          <p:nvPr/>
        </p:nvSpPr>
        <p:spPr>
          <a:xfrm>
            <a:off x="2277979" y="2037347"/>
            <a:ext cx="7636042" cy="9464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資料倉儲層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567E178B-CF2F-1BC9-20B9-D9CA21F64A15}"/>
              </a:ext>
            </a:extLst>
          </p:cNvPr>
          <p:cNvSpPr txBox="1">
            <a:spLocks/>
          </p:cNvSpPr>
          <p:nvPr/>
        </p:nvSpPr>
        <p:spPr>
          <a:xfrm>
            <a:off x="605590" y="3429000"/>
            <a:ext cx="2298031" cy="10106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FF0000"/>
                </a:solidFill>
              </a:rPr>
              <a:t>To AI/NLP</a:t>
            </a:r>
            <a:r>
              <a:rPr lang="zh-TW" altLang="en-US" sz="2000" dirty="0">
                <a:solidFill>
                  <a:srgbClr val="FF0000"/>
                </a:solidFill>
              </a:rPr>
              <a:t>層</a:t>
            </a:r>
            <a:r>
              <a:rPr lang="en-US" altLang="zh-TW" sz="2000" dirty="0">
                <a:solidFill>
                  <a:srgbClr val="FF0000"/>
                </a:solidFill>
              </a:rPr>
              <a:t>:12345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To </a:t>
            </a:r>
            <a:r>
              <a:rPr lang="zh-TW" altLang="en-US" sz="2000" dirty="0">
                <a:solidFill>
                  <a:srgbClr val="FF0000"/>
                </a:solidFill>
              </a:rPr>
              <a:t>分析層</a:t>
            </a:r>
            <a:r>
              <a:rPr lang="en-US" altLang="zh-TW" sz="2000" dirty="0">
                <a:solidFill>
                  <a:srgbClr val="FF0000"/>
                </a:solidFill>
              </a:rPr>
              <a:t>:1235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To </a:t>
            </a:r>
            <a:r>
              <a:rPr lang="zh-TW" altLang="en-US" sz="2000" dirty="0">
                <a:solidFill>
                  <a:srgbClr val="FF0000"/>
                </a:solidFill>
              </a:rPr>
              <a:t>服務層</a:t>
            </a:r>
            <a:r>
              <a:rPr lang="en-US" altLang="zh-TW" sz="2000" dirty="0">
                <a:solidFill>
                  <a:srgbClr val="FF0000"/>
                </a:solidFill>
              </a:rPr>
              <a:t>:145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4743C62E-00D0-A545-279D-5533AD25D5F3}"/>
              </a:ext>
            </a:extLst>
          </p:cNvPr>
          <p:cNvSpPr txBox="1">
            <a:spLocks/>
          </p:cNvSpPr>
          <p:nvPr/>
        </p:nvSpPr>
        <p:spPr>
          <a:xfrm>
            <a:off x="9352547" y="3523247"/>
            <a:ext cx="2839453" cy="10106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002060"/>
                </a:solidFill>
              </a:rPr>
              <a:t>From</a:t>
            </a:r>
            <a:r>
              <a:rPr lang="zh-TW" altLang="en-US" sz="2000" dirty="0">
                <a:solidFill>
                  <a:srgbClr val="002060"/>
                </a:solidFill>
              </a:rPr>
              <a:t>服務層</a:t>
            </a:r>
            <a:r>
              <a:rPr lang="en-US" altLang="zh-TW" sz="2000" dirty="0">
                <a:solidFill>
                  <a:srgbClr val="002060"/>
                </a:solidFill>
              </a:rPr>
              <a:t>:12</a:t>
            </a:r>
          </a:p>
          <a:p>
            <a:r>
              <a:rPr lang="en-US" altLang="zh-TW" sz="2000" dirty="0">
                <a:solidFill>
                  <a:srgbClr val="002060"/>
                </a:solidFill>
              </a:rPr>
              <a:t>From AI/NLP</a:t>
            </a:r>
            <a:r>
              <a:rPr lang="zh-TW" altLang="en-US" sz="2000" dirty="0">
                <a:solidFill>
                  <a:srgbClr val="002060"/>
                </a:solidFill>
              </a:rPr>
              <a:t>層</a:t>
            </a:r>
            <a:r>
              <a:rPr lang="en-US" altLang="zh-TW" sz="2000" dirty="0">
                <a:solidFill>
                  <a:srgbClr val="002060"/>
                </a:solidFill>
              </a:rPr>
              <a:t>:4</a:t>
            </a:r>
          </a:p>
          <a:p>
            <a:r>
              <a:rPr lang="en-US" altLang="zh-TW" sz="2000" dirty="0">
                <a:solidFill>
                  <a:srgbClr val="002060"/>
                </a:solidFill>
              </a:rPr>
              <a:t>From </a:t>
            </a:r>
            <a:r>
              <a:rPr lang="zh-TW" altLang="en-US" sz="2000" dirty="0">
                <a:solidFill>
                  <a:srgbClr val="002060"/>
                </a:solidFill>
              </a:rPr>
              <a:t>分析與研究層</a:t>
            </a:r>
            <a:r>
              <a:rPr lang="en-US" altLang="zh-TW" sz="2000" dirty="0">
                <a:solidFill>
                  <a:srgbClr val="002060"/>
                </a:solidFill>
              </a:rPr>
              <a:t>:45</a:t>
            </a:r>
            <a:endParaRPr lang="zh-TW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696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348B-2BD0-C240-6FB7-365F683E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1422B0-6091-6E18-1EC3-565FD5BD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AI/NLP</a:t>
            </a:r>
            <a:r>
              <a:rPr lang="zh-TW" altLang="en-US" dirty="0"/>
              <a:t>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464249-3461-8C3B-D92F-650D4FC20B73}"/>
              </a:ext>
            </a:extLst>
          </p:cNvPr>
          <p:cNvSpPr/>
          <p:nvPr/>
        </p:nvSpPr>
        <p:spPr>
          <a:xfrm>
            <a:off x="2294021" y="2045368"/>
            <a:ext cx="7603960" cy="421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457AA6-D7DF-9FA2-C2D7-01635479FBEC}"/>
              </a:ext>
            </a:extLst>
          </p:cNvPr>
          <p:cNvSpPr/>
          <p:nvPr/>
        </p:nvSpPr>
        <p:spPr>
          <a:xfrm>
            <a:off x="2903621" y="3429000"/>
            <a:ext cx="6448926" cy="2538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zh-TW" altLang="en-US" b="1" dirty="0"/>
              <a:t>相似聚類</a:t>
            </a:r>
            <a:endParaRPr lang="en-US" altLang="zh-TW" b="1" dirty="0"/>
          </a:p>
          <a:p>
            <a:pPr marL="342900" indent="-342900" algn="ctr">
              <a:buAutoNum type="arabicPeriod"/>
            </a:pPr>
            <a:r>
              <a:rPr lang="zh-TW" altLang="en-US" dirty="0"/>
              <a:t>主題與關鍵字提取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難度</a:t>
            </a:r>
            <a:r>
              <a:rPr lang="en-US" altLang="zh-TW" dirty="0"/>
              <a:t>/</a:t>
            </a:r>
            <a:r>
              <a:rPr lang="zh-TW" altLang="en-US" dirty="0"/>
              <a:t>混淆度評分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熱點偵測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生成式草稿</a:t>
            </a:r>
            <a:r>
              <a:rPr lang="en-US" altLang="zh-TW" dirty="0"/>
              <a:t>(</a:t>
            </a:r>
            <a:r>
              <a:rPr lang="zh-TW" altLang="en-US" dirty="0"/>
              <a:t>含課程建議與重點提問大綱等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B6937C-634C-EDC9-0B19-B8B78D537315}"/>
              </a:ext>
            </a:extLst>
          </p:cNvPr>
          <p:cNvSpPr/>
          <p:nvPr/>
        </p:nvSpPr>
        <p:spPr>
          <a:xfrm>
            <a:off x="2277979" y="2037347"/>
            <a:ext cx="7636042" cy="9464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/>
              <a:t>AI/NLP</a:t>
            </a:r>
            <a:r>
              <a:rPr lang="zh-TW" altLang="en-US" sz="2800" b="1" dirty="0"/>
              <a:t>層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FE2330A-9803-6848-79B4-2147D30FCABA}"/>
              </a:ext>
            </a:extLst>
          </p:cNvPr>
          <p:cNvSpPr txBox="1">
            <a:spLocks/>
          </p:cNvSpPr>
          <p:nvPr/>
        </p:nvSpPr>
        <p:spPr>
          <a:xfrm>
            <a:off x="605590" y="3874169"/>
            <a:ext cx="2298031" cy="10106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FF0000"/>
                </a:solidFill>
              </a:rPr>
              <a:t>To </a:t>
            </a:r>
            <a:r>
              <a:rPr lang="zh-TW" altLang="en-US" sz="2000" dirty="0">
                <a:solidFill>
                  <a:srgbClr val="FF0000"/>
                </a:solidFill>
              </a:rPr>
              <a:t>資料層</a:t>
            </a:r>
            <a:r>
              <a:rPr lang="en-US" altLang="zh-TW" sz="2000" dirty="0">
                <a:solidFill>
                  <a:srgbClr val="FF0000"/>
                </a:solidFill>
              </a:rPr>
              <a:t>:12345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F13A478F-51E6-6B39-9F0E-84D4ED076B8D}"/>
              </a:ext>
            </a:extLst>
          </p:cNvPr>
          <p:cNvSpPr txBox="1">
            <a:spLocks/>
          </p:cNvSpPr>
          <p:nvPr/>
        </p:nvSpPr>
        <p:spPr>
          <a:xfrm>
            <a:off x="9352547" y="3523247"/>
            <a:ext cx="2839453" cy="10106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002060"/>
                </a:solidFill>
              </a:rPr>
              <a:t>From</a:t>
            </a:r>
            <a:r>
              <a:rPr lang="zh-TW" altLang="en-US" sz="2000" dirty="0">
                <a:solidFill>
                  <a:srgbClr val="002060"/>
                </a:solidFill>
              </a:rPr>
              <a:t>相似聚類</a:t>
            </a:r>
            <a:r>
              <a:rPr lang="en-US" altLang="zh-TW" sz="2000" dirty="0">
                <a:solidFill>
                  <a:srgbClr val="002060"/>
                </a:solidFill>
              </a:rPr>
              <a:t>:2345</a:t>
            </a:r>
          </a:p>
          <a:p>
            <a:r>
              <a:rPr lang="en-US" altLang="zh-TW" sz="2000" dirty="0">
                <a:solidFill>
                  <a:srgbClr val="002060"/>
                </a:solidFill>
              </a:rPr>
              <a:t>From</a:t>
            </a:r>
            <a:r>
              <a:rPr lang="zh-TW" altLang="en-US" sz="2000" dirty="0">
                <a:solidFill>
                  <a:srgbClr val="002060"/>
                </a:solidFill>
              </a:rPr>
              <a:t>資料層</a:t>
            </a:r>
            <a:r>
              <a:rPr lang="en-US" altLang="zh-TW" sz="2000" dirty="0">
                <a:solidFill>
                  <a:srgbClr val="002060"/>
                </a:solidFill>
              </a:rPr>
              <a:t>:</a:t>
            </a:r>
            <a:r>
              <a:rPr lang="zh-TW" altLang="en-US" sz="2000" dirty="0">
                <a:solidFill>
                  <a:srgbClr val="002060"/>
                </a:solidFill>
              </a:rPr>
              <a:t> </a:t>
            </a:r>
            <a:r>
              <a:rPr lang="en-US" altLang="zh-TW" sz="2000" dirty="0">
                <a:solidFill>
                  <a:srgbClr val="002060"/>
                </a:solidFill>
              </a:rPr>
              <a:t>1</a:t>
            </a:r>
          </a:p>
          <a:p>
            <a:endParaRPr lang="zh-TW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38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FA83-883F-6077-F5BE-BE4E8DDC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DDDB2F-AE4E-AF90-CD66-2C29FE61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分析與研究報表層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EFB250-932D-45BD-3DE2-33D5429BAB12}"/>
              </a:ext>
            </a:extLst>
          </p:cNvPr>
          <p:cNvSpPr/>
          <p:nvPr/>
        </p:nvSpPr>
        <p:spPr>
          <a:xfrm>
            <a:off x="2294021" y="2045368"/>
            <a:ext cx="7603960" cy="4213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5D43392-491B-F624-D88A-91D3432BEE36}"/>
              </a:ext>
            </a:extLst>
          </p:cNvPr>
          <p:cNvSpPr/>
          <p:nvPr/>
        </p:nvSpPr>
        <p:spPr>
          <a:xfrm>
            <a:off x="2903621" y="3429000"/>
            <a:ext cx="6448926" cy="25386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zh-TW" altLang="en-US" dirty="0"/>
              <a:t>統計資料圖表化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包含提問率、主題分布、回應時效、覆蓋率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可分組別、時間、課次進行篩選</a:t>
            </a:r>
            <a:endParaRPr lang="en-US" altLang="zh-TW" dirty="0"/>
          </a:p>
          <a:p>
            <a:pPr marL="342900" indent="-342900" algn="ctr">
              <a:buAutoNum type="arabicPeriod"/>
            </a:pPr>
            <a:r>
              <a:rPr lang="zh-TW" altLang="en-US" dirty="0"/>
              <a:t>可匯出成</a:t>
            </a:r>
            <a:r>
              <a:rPr lang="en-US" altLang="zh-TW" dirty="0"/>
              <a:t>CSV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38BC45-FD44-BC01-D7DC-22CF2A08E121}"/>
              </a:ext>
            </a:extLst>
          </p:cNvPr>
          <p:cNvSpPr/>
          <p:nvPr/>
        </p:nvSpPr>
        <p:spPr>
          <a:xfrm>
            <a:off x="2277979" y="2037347"/>
            <a:ext cx="7636042" cy="9464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/>
              <a:t>分析與研究報表層</a:t>
            </a: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0A7BE8BD-234E-4598-DBC8-6EC8A2C5790E}"/>
              </a:ext>
            </a:extLst>
          </p:cNvPr>
          <p:cNvSpPr txBox="1">
            <a:spLocks/>
          </p:cNvSpPr>
          <p:nvPr/>
        </p:nvSpPr>
        <p:spPr>
          <a:xfrm>
            <a:off x="605590" y="3874169"/>
            <a:ext cx="2971799" cy="10106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FF0000"/>
                </a:solidFill>
              </a:rPr>
              <a:t>To </a:t>
            </a:r>
            <a:r>
              <a:rPr lang="zh-TW" altLang="en-US" sz="2000" dirty="0">
                <a:solidFill>
                  <a:srgbClr val="FF0000"/>
                </a:solidFill>
              </a:rPr>
              <a:t>使用者介面層</a:t>
            </a:r>
            <a:r>
              <a:rPr lang="en-US" altLang="zh-TW" sz="2000" dirty="0">
                <a:solidFill>
                  <a:srgbClr val="FF0000"/>
                </a:solidFill>
              </a:rPr>
              <a:t>:1234</a:t>
            </a:r>
          </a:p>
          <a:p>
            <a:r>
              <a:rPr lang="en-US" altLang="zh-TW" sz="2000" dirty="0">
                <a:solidFill>
                  <a:srgbClr val="FF0000"/>
                </a:solidFill>
              </a:rPr>
              <a:t>To </a:t>
            </a:r>
            <a:r>
              <a:rPr lang="zh-TW" altLang="en-US" sz="2000" dirty="0">
                <a:solidFill>
                  <a:srgbClr val="FF0000"/>
                </a:solidFill>
              </a:rPr>
              <a:t>服務應用層</a:t>
            </a:r>
            <a:r>
              <a:rPr lang="en-US" altLang="zh-TW" sz="2000" dirty="0">
                <a:solidFill>
                  <a:srgbClr val="FF0000"/>
                </a:solidFill>
              </a:rPr>
              <a:t>::4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67AB528F-FE29-D208-396D-B17A9FC3B085}"/>
              </a:ext>
            </a:extLst>
          </p:cNvPr>
          <p:cNvSpPr txBox="1">
            <a:spLocks/>
          </p:cNvSpPr>
          <p:nvPr/>
        </p:nvSpPr>
        <p:spPr>
          <a:xfrm>
            <a:off x="9288379" y="3687679"/>
            <a:ext cx="2839453" cy="10106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rgbClr val="002060"/>
                </a:solidFill>
              </a:rPr>
              <a:t>From</a:t>
            </a:r>
            <a:r>
              <a:rPr lang="zh-TW" altLang="en-US" sz="2000" dirty="0">
                <a:solidFill>
                  <a:srgbClr val="002060"/>
                </a:solidFill>
              </a:rPr>
              <a:t>資料層</a:t>
            </a:r>
            <a:r>
              <a:rPr lang="en-US" altLang="zh-TW" sz="2000" dirty="0">
                <a:solidFill>
                  <a:srgbClr val="002060"/>
                </a:solidFill>
              </a:rPr>
              <a:t>:</a:t>
            </a:r>
            <a:r>
              <a:rPr lang="zh-TW" altLang="en-US" sz="2000" dirty="0">
                <a:solidFill>
                  <a:srgbClr val="002060"/>
                </a:solidFill>
              </a:rPr>
              <a:t> </a:t>
            </a:r>
            <a:r>
              <a:rPr lang="en-US" altLang="zh-TW" sz="2000" dirty="0">
                <a:solidFill>
                  <a:srgbClr val="002060"/>
                </a:solidFill>
              </a:rPr>
              <a:t>1234</a:t>
            </a:r>
          </a:p>
          <a:p>
            <a:endParaRPr lang="zh-TW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099919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裁剪</Template>
  <TotalTime>207</TotalTime>
  <Words>349</Words>
  <Application>Microsoft Office PowerPoint</Application>
  <PresentationFormat>寬螢幕</PresentationFormat>
  <Paragraphs>63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9" baseType="lpstr">
      <vt:lpstr>Franklin Gothic Book</vt:lpstr>
      <vt:lpstr>裁剪</vt:lpstr>
      <vt:lpstr>AI教學計畫</vt:lpstr>
      <vt:lpstr>分層系統架構 對應功能</vt:lpstr>
      <vt:lpstr>使用者介面層</vt:lpstr>
      <vt:lpstr>服務與應用層</vt:lpstr>
      <vt:lpstr>資料倉儲層</vt:lpstr>
      <vt:lpstr>AI/NLP層</vt:lpstr>
      <vt:lpstr>分析與研究報表層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hu</dc:creator>
  <cp:lastModifiedBy>andrew hu</cp:lastModifiedBy>
  <cp:revision>3</cp:revision>
  <dcterms:created xsi:type="dcterms:W3CDTF">2025-09-23T06:14:36Z</dcterms:created>
  <dcterms:modified xsi:type="dcterms:W3CDTF">2025-09-23T10:23:21Z</dcterms:modified>
</cp:coreProperties>
</file>